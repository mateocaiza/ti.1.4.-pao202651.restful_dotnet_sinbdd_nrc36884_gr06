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300" r:id="rId4"/>
    <p:sldId id="258" r:id="rId5"/>
    <p:sldId id="259" r:id="rId6"/>
    <p:sldId id="261" r:id="rId7"/>
    <p:sldId id="262" r:id="rId8"/>
    <p:sldId id="278" r:id="rId9"/>
    <p:sldId id="279" r:id="rId10"/>
    <p:sldId id="284" r:id="rId11"/>
    <p:sldId id="329" r:id="rId12"/>
    <p:sldId id="287" r:id="rId13"/>
    <p:sldId id="293" r:id="rId14"/>
    <p:sldId id="295" r:id="rId16"/>
    <p:sldId id="321" r:id="rId17"/>
    <p:sldId id="296" r:id="rId19"/>
    <p:sldId id="297" r:id="rId20"/>
    <p:sldId id="29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82" Type="http://customschemas.google.com/relationships/presentationmetadata" Target="meta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52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24d66b2ad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524d66b2a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oracle.com/java/technologies/java-ee-glanc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RESTFUL EN .NET SIN BASE DE DATOS</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Mateo Llumigusin</a:t>
            </a:r>
          </a:p>
          <a:p>
            <a:pPr marL="0" lvl="0" indent="0" algn="l" rtl="0">
              <a:lnSpc>
                <a:spcPct val="100000"/>
              </a:lnSpc>
              <a:spcBef>
                <a:spcPts val="0"/>
              </a:spcBef>
              <a:spcAft>
                <a:spcPts val="0"/>
              </a:spcAft>
              <a:buSzPts val="1472"/>
              <a:buNone/>
            </a:pPr>
            <a:r>
              <a:rPr lang="es-ES" b="1" dirty="0">
                <a:solidFill>
                  <a:schemeClr val="lt1"/>
                </a:solidFill>
              </a:rPr>
              <a:t>		Samir Mideros</a:t>
            </a:r>
            <a:endParaRPr dirty="0">
              <a:solidFill>
                <a:schemeClr val="lt1"/>
              </a:solidFill>
            </a:endParaRPr>
          </a:p>
          <a:p>
            <a:pPr marL="0" lvl="0" indent="0" algn="l" rtl="0">
              <a:lnSpc>
                <a:spcPct val="100000"/>
              </a:lnSpc>
              <a:spcBef>
                <a:spcPts val="0"/>
              </a:spcBef>
              <a:spcAft>
                <a:spcPts val="0"/>
              </a:spcAft>
              <a:buSzPts val="1472"/>
              <a:buNone/>
            </a:pPr>
            <a:r>
              <a:rPr lang="es-ES" b="1" dirty="0">
                <a:solidFill>
                  <a:schemeClr val="lt1"/>
                </a:solidFill>
              </a:rPr>
              <a:t>		Cesar Loor</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36884</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28/10/2026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624325" y="1808081"/>
            <a:ext cx="8293914" cy="4649809"/>
            <a:chOff x="0" y="52173"/>
            <a:chExt cx="8269931" cy="3824461"/>
          </a:xfrm>
        </p:grpSpPr>
        <p:sp>
          <p:nvSpPr>
            <p:cNvPr id="113" name="Google Shape;113;p3"/>
            <p:cNvSpPr/>
            <p:nvPr/>
          </p:nvSpPr>
          <p:spPr>
            <a:xfrm>
              <a:off x="0" y="52173"/>
              <a:ext cx="8269800" cy="3824461"/>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33805" y="846009"/>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940705" y="148691"/>
              <a:ext cx="6995400" cy="3296584"/>
            </a:xfrm>
            <a:prstGeom prst="rect">
              <a:avLst/>
            </a:prstGeom>
            <a:noFill/>
            <a:ln>
              <a:noFill/>
            </a:ln>
          </p:spPr>
          <p:txBody>
            <a:bodyPr spcFirstLastPara="1" wrap="square" lIns="116775" tIns="116775" rIns="116775" bIns="116775" anchor="ctr" anchorCtr="0">
              <a:noAutofit/>
            </a:bodyPr>
            <a:lstStyle/>
            <a:p>
              <a:pPr marL="0" marR="0" lvl="0" indent="0" algn="just" rtl="0">
                <a:lnSpc>
                  <a:spcPct val="115000"/>
                </a:lnSpc>
                <a:spcBef>
                  <a:spcPts val="1200"/>
                </a:spcBef>
                <a:spcAft>
                  <a:spcPts val="0"/>
                </a:spcAft>
                <a:buClr>
                  <a:schemeClr val="dk1"/>
                </a:buClr>
                <a:buSzPts val="1100"/>
                <a:buFont typeface="Arial"/>
                <a:buNone/>
              </a:pPr>
              <a:endParaRPr lang="es-MX" sz="23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El objetivo de esta práctica es desarrollar un servicio web RESTful en .NET que permita la conversión de unidades de longitud, masa y temperatura.</a:t>
              </a: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La práctica busca: </a:t>
              </a:r>
            </a:p>
            <a:p>
              <a:pPr marL="342900" marR="0" lvl="0" indent="-342900" algn="just" rtl="0">
                <a:lnSpc>
                  <a:spcPct val="115000"/>
                </a:lnSpc>
                <a:spcBef>
                  <a:spcPts val="1200"/>
                </a:spcBef>
                <a:spcAft>
                  <a:spcPts val="0"/>
                </a:spcAft>
                <a:buClr>
                  <a:schemeClr val="dk1"/>
                </a:buClr>
                <a:buSzPts val="1100"/>
                <a:buFont typeface="Arial" panose="020B0604020202020204" pitchFamily="34" charset="0"/>
                <a:buChar char="•"/>
              </a:pPr>
              <a:r>
                <a:rPr lang="es-MX" sz="2300" dirty="0">
                  <a:solidFill>
                    <a:schemeClr val="dk1"/>
                  </a:solidFill>
                  <a:latin typeface="Gill Sans"/>
                </a:rPr>
                <a:t>Implementar un servicio web que exponga operaciones para convertir unidades de longitud, masa y temperatura sin uso de base de datos.</a:t>
              </a:r>
            </a:p>
            <a:p>
              <a:pPr marL="342900" indent="-342900" algn="just">
                <a:lnSpc>
                  <a:spcPct val="115000"/>
                </a:lnSpc>
                <a:spcBef>
                  <a:spcPts val="1200"/>
                </a:spcBef>
                <a:buClr>
                  <a:schemeClr val="dk1"/>
                </a:buClr>
                <a:buSzPts val="1100"/>
                <a:buFont typeface="Arial" panose="020B0604020202020204" pitchFamily="34" charset="0"/>
                <a:buChar char="•"/>
              </a:pPr>
              <a:r>
                <a:rPr lang="es-MX" sz="2300" dirty="0">
                  <a:solidFill>
                    <a:schemeClr val="dk1"/>
                  </a:solidFill>
                  <a:latin typeface="Gill Sans"/>
                </a:rPr>
                <a:t>Utilizar la tecnología .NET (C#) para crear, desplegar y consumir el servicio web desde clientes de consola, escritorio y móvil.</a:t>
              </a:r>
            </a:p>
            <a:p>
              <a:pPr marL="0" marR="0" lvl="0" indent="0" algn="just" rtl="0">
                <a:lnSpc>
                  <a:spcPct val="115000"/>
                </a:lnSpc>
                <a:spcBef>
                  <a:spcPts val="1200"/>
                </a:spcBef>
                <a:spcAft>
                  <a:spcPts val="0"/>
                </a:spcAft>
                <a:buClr>
                  <a:schemeClr val="dk1"/>
                </a:buClr>
                <a:buSzPts val="1100"/>
                <a:buFont typeface="Arial"/>
                <a:buNone/>
              </a:pPr>
              <a:endParaRPr sz="2300" b="0" i="0" u="none" strike="noStrike" cap="none" dirty="0">
                <a:solidFill>
                  <a:schemeClr val="dk1"/>
                </a:solidFill>
                <a:latin typeface="Gill Sans"/>
                <a:ea typeface="Gill Sans"/>
                <a:cs typeface="Gill Sans"/>
                <a:sym typeface="Gill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OBJETIVOS ESPECIFICOS</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581192" y="2081724"/>
            <a:ext cx="8337049" cy="4376166"/>
            <a:chOff x="-43008" y="597724"/>
            <a:chExt cx="8312941" cy="5380751"/>
          </a:xfrm>
        </p:grpSpPr>
        <p:sp>
          <p:nvSpPr>
            <p:cNvPr id="113" name="Google Shape;113;p3"/>
            <p:cNvSpPr/>
            <p:nvPr/>
          </p:nvSpPr>
          <p:spPr>
            <a:xfrm>
              <a:off x="-43008" y="1121588"/>
              <a:ext cx="8269800" cy="4856887"/>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64182" y="1950828"/>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274533" y="1701123"/>
              <a:ext cx="6995400" cy="4073905"/>
            </a:xfrm>
            <a:prstGeom prst="rect">
              <a:avLst/>
            </a:prstGeom>
            <a:noFill/>
            <a:ln>
              <a:noFill/>
            </a:ln>
          </p:spPr>
          <p:txBody>
            <a:bodyPr spcFirstLastPara="1" wrap="square" lIns="116775" tIns="116775" rIns="116775" bIns="11677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Estructurar el proyecto en capas lógicas (modelo, servicio, controlador y vista) para mejorar la organización y mantenibilidad del código.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Aplicar principios de la programación orientada a objetos en la implementación de la lógica de negocio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Verificar el correcto funcionamiento de las operaciones de conversión con pruebas desde los clientes.</a:t>
              </a:r>
            </a:p>
            <a:p>
              <a:pPr eaLnBrk="0" fontAlgn="base" hangingPunct="0">
                <a:spcBef>
                  <a:spcPct val="0"/>
                </a:spcBef>
                <a:spcAft>
                  <a:spcPct val="0"/>
                </a:spcAft>
                <a:buClrTx/>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Validar el acceso mediante autenticación con las credenciales MONSTER / MONSTER69 y comprobar los resultados en cada cliente.</a:t>
              </a:r>
            </a:p>
            <a:p>
              <a:pPr marL="285750" lvl="0" indent="-285750" eaLnBrk="0" fontAlgn="base" hangingPunct="0">
                <a:spcBef>
                  <a:spcPct val="0"/>
                </a:spcBef>
                <a:spcAft>
                  <a:spcPct val="0"/>
                </a:spcAft>
                <a:buClrTx/>
                <a:buFont typeface="Arial" panose="020B0604020202020204" pitchFamily="34" charset="0"/>
                <a:buChar char="•"/>
              </a:pPr>
              <a:endParaRPr lang="es-MX" sz="16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endParaRPr lang="es-MX" sz="2300" b="0" i="0" u="none" strike="noStrike" cap="none" dirty="0">
                <a:solidFill>
                  <a:schemeClr val="dk1"/>
                </a:solidFill>
                <a:latin typeface="Gill Sans"/>
                <a:ea typeface="Gill Sans"/>
                <a:cs typeface="Gill Sans"/>
                <a:sym typeface="Gill Sans"/>
              </a:endParaRPr>
            </a:p>
          </p:txBody>
        </p:sp>
      </p:grpSp>
    </p:spTree>
    <p:extLst>
      <p:ext uri="{BB962C8B-B14F-4D97-AF65-F5344CB8AC3E}">
        <p14:creationId xmlns:p14="http://schemas.microsoft.com/office/powerpoint/2010/main" val="52016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36" name="Google Shape;136;p8"/>
          <p:cNvPicPr preferRelativeResize="0"/>
          <p:nvPr/>
        </p:nvPicPr>
        <p:blipFill>
          <a:blip r:embed="rId3">
            <a:alphaModFix/>
          </a:blip>
          <a:stretch>
            <a:fillRect/>
          </a:stretch>
        </p:blipFill>
        <p:spPr>
          <a:xfrm>
            <a:off x="3552825" y="2215731"/>
            <a:ext cx="5086350" cy="3638550"/>
          </a:xfrm>
          <a:prstGeom prst="rect">
            <a:avLst/>
          </a:prstGeom>
          <a:noFill/>
          <a:ln>
            <a:noFill/>
          </a:ln>
        </p:spPr>
      </p:pic>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Para empezar con la creación del web service RESTful sin base de datos en .NET, se crea un proyecto “Aplicación web ASP.NET” con plantilla Web API (.NET Framework 4.7.2) en Visual Studio Community 2026.</a:t>
            </a:r>
            <a:endParaRPr>
              <a:solidFill>
                <a:schemeClr val="dk1"/>
              </a:solidFill>
            </a:endParaRPr>
          </a:p>
          <a:p>
            <a:pPr marL="457200" lvl="0" indent="0" algn="l" rtl="0">
              <a:lnSpc>
                <a:spcPct val="115000"/>
              </a:lnSpc>
              <a:spcBef>
                <a:spcPts val="0"/>
              </a:spcBef>
              <a:spcAft>
                <a:spcPts val="0"/>
              </a:spcAft>
              <a:buNone/>
            </a:pP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4928123" y="222741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El proyecto correrá en IIS Express sobre .NET Framework 4.7.2, publicando los endpoints con ASP.NET Web API 2.</a:t>
            </a:r>
            <a:endParaRPr>
              <a:solidFill>
                <a:schemeClr val="dk1"/>
              </a:solidFill>
            </a:endParaRPr>
          </a:p>
          <a:p>
            <a:pPr marL="0" lvl="0" indent="0" algn="l" rtl="0">
              <a:lnSpc>
                <a:spcPct val="115000"/>
              </a:lnSpc>
              <a:spcBef>
                <a:spcPts val="1200"/>
              </a:spcBef>
              <a:spcAft>
                <a:spcPts val="0"/>
              </a:spcAft>
              <a:buClr>
                <a:schemeClr val="dk1"/>
              </a:buClr>
              <a:buSzPts val="1656"/>
              <a:buNone/>
            </a:pPr>
            <a:r>
              <a:rPr lang="es-ES">
                <a:solidFill>
                  <a:schemeClr val="dk1"/>
                </a:solidFill>
              </a:rPr>
              <a:t> </a:t>
            </a: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58" name="Google Shape;158;g2524d66b2ad_0_10" descr="Interfaz de usuario gráfica, Texto, Aplicación&#10;&#10;Descripción generada automáticamente"/>
          <p:cNvPicPr preferRelativeResize="0"/>
          <p:nvPr/>
        </p:nvPicPr>
        <p:blipFill>
          <a:blip r:embed="rId3">
            <a:alphaModFix/>
          </a:blip>
          <a:stretch>
            <a:fillRect/>
          </a:stretch>
        </p:blipFill>
        <p:spPr>
          <a:xfrm>
            <a:off x="789751" y="4157853"/>
            <a:ext cx="3699900" cy="2575625"/>
          </a:xfrm>
          <a:prstGeom prst="rect">
            <a:avLst/>
          </a:prstGeom>
          <a:noFill/>
          <a:ln>
            <a:noFill/>
          </a:ln>
        </p:spPr>
      </p:pic>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61BF90E4-2C39-3FFD-D3D0-6EA62B4BB893}"/>
              </a:ext>
            </a:extLst>
          </p:cNvPr>
          <p:cNvPicPr>
            <a:picLocks noChangeAspect="1"/>
          </p:cNvPicPr>
          <p:nvPr/>
        </p:nvPicPr>
        <p:blipFill>
          <a:blip r:embed="rId4"/>
          <a:stretch>
            <a:fillRect/>
          </a:stretch>
        </p:blipFill>
        <p:spPr>
          <a:xfrm>
            <a:off x="1012710" y="1897936"/>
            <a:ext cx="3038469" cy="203238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524d66b2ad_0_22"/>
          <p:cNvSpPr txBox="1">
            <a:spLocks noGrp="1"/>
          </p:cNvSpPr>
          <p:nvPr>
            <p:ph type="body" idx="1"/>
          </p:nvPr>
        </p:nvSpPr>
        <p:spPr>
          <a:xfrm>
            <a:off x="397608" y="2126657"/>
            <a:ext cx="3312300" cy="440010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MX" dirty="0">
                <a:solidFill>
                  <a:schemeClr val="dk1"/>
                </a:solidFill>
              </a:rPr>
              <a:t>Se crean las carpetas Models (ConversionRequest, ConversionResponse), Services (ConversionService) y los controladores; luego se procede a la codificación.</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165" name="Google Shape;165;g2524d66b2ad_0_22"/>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66" name="Google Shape;166;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67" name="Google Shape;167;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70" name="Google Shape;170;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2D423EF-12D3-125D-3074-55772CB38033}"/>
              </a:ext>
            </a:extLst>
          </p:cNvPr>
          <p:cNvPicPr>
            <a:picLocks noChangeAspect="1"/>
          </p:cNvPicPr>
          <p:nvPr/>
        </p:nvPicPr>
        <p:blipFill>
          <a:blip r:embed="rId3"/>
          <a:stretch>
            <a:fillRect/>
          </a:stretch>
        </p:blipFill>
        <p:spPr>
          <a:xfrm>
            <a:off x="3961911" y="3429000"/>
            <a:ext cx="4727575" cy="154686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r>
              <a:rPr lang="es-EC" dirty="0"/>
              <a:t>Realizado el servidor se avanza a las aplicaciones cliente; para el cliente de escritorio se crea un nuevo proyecto de tipo Windows Forms (.NET Framework 4.8).</a:t>
            </a: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F263B2C0-A2F9-BA45-878D-79922572D931}"/>
              </a:ext>
            </a:extLst>
          </p:cNvPr>
          <p:cNvPicPr>
            <a:picLocks noChangeAspect="1"/>
          </p:cNvPicPr>
          <p:nvPr/>
        </p:nvPicPr>
        <p:blipFill>
          <a:blip r:embed="rId3"/>
          <a:stretch>
            <a:fillRect/>
          </a:stretch>
        </p:blipFill>
        <p:spPr>
          <a:xfrm>
            <a:off x="3942851" y="2505486"/>
            <a:ext cx="5125165" cy="30198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3312300" cy="4400100"/>
          </a:xfrm>
          <a:prstGeom prst="rect">
            <a:avLst/>
          </a:prstGeom>
          <a:noFill/>
          <a:ln>
            <a:noFill/>
          </a:ln>
        </p:spPr>
        <p:txBody>
          <a:bodyPr spcFirstLastPara="1" wrap="square" lIns="91425" tIns="45700" rIns="91425" bIns="45700" anchor="ctr" anchorCtr="0">
            <a:normAutofit fontScale="92500" lnSpcReduction="10000"/>
          </a:bodyPr>
          <a:lstStyle/>
          <a:p>
            <a:pPr marL="306000" lvl="0" indent="0" algn="l" rtl="0">
              <a:lnSpc>
                <a:spcPct val="115000"/>
              </a:lnSpc>
              <a:spcBef>
                <a:spcPts val="1200"/>
              </a:spcBef>
              <a:spcAft>
                <a:spcPts val="0"/>
              </a:spcAft>
              <a:buSzPct val="108235"/>
              <a:buNone/>
            </a:pPr>
            <a:r>
              <a:rPr lang="es-MX">
                <a:solidFill>
                  <a:schemeClr val="dk1"/>
                </a:solidFill>
              </a:rPr>
              <a:t>Después de la creación de la aplicación, el cliente consume el servicio RESTful mediante HttpClient, apoyado en el cliente generado a partir del contrato OpenAPI (Swagger) del servidor.</a:t>
            </a:r>
            <a:endParaRPr>
              <a:solidFill>
                <a:schemeClr val="dk1"/>
              </a:solidFill>
            </a:endParaRPr>
          </a:p>
          <a:p>
            <a:pPr marL="306000" lvl="0" indent="0" algn="just" rtl="0">
              <a:lnSpc>
                <a:spcPct val="115000"/>
              </a:lnSpc>
              <a:spcBef>
                <a:spcPts val="1200"/>
              </a:spcBef>
              <a:spcAft>
                <a:spcPts val="1200"/>
              </a:spcAft>
              <a:buSzPct val="108235"/>
              <a:buNone/>
            </a:pPr>
            <a:endParaRPr>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253BA09-379B-4E92-AB2C-E24C0CBC191D}"/>
              </a:ext>
            </a:extLst>
          </p:cNvPr>
          <p:cNvPicPr/>
          <p:nvPr/>
        </p:nvPicPr>
        <p:blipFill>
          <a:blip r:embed="rId3"/>
          <a:stretch>
            <a:fillRect/>
          </a:stretch>
        </p:blipFill>
        <p:spPr>
          <a:xfrm>
            <a:off x="4043044" y="2228849"/>
            <a:ext cx="4694555" cy="365040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Al mismo tiempo se creará un formulario (Windows Form) para el Inicio de Sesión</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F01CC4F-5B3D-B8C0-E049-3AB96A13EAB8}"/>
              </a:ext>
            </a:extLst>
          </p:cNvPr>
          <p:cNvPicPr>
            <a:picLocks noChangeAspect="1"/>
          </p:cNvPicPr>
          <p:nvPr/>
        </p:nvPicPr>
        <p:blipFill>
          <a:blip r:embed="rId3"/>
          <a:stretch>
            <a:fillRect/>
          </a:stretch>
        </p:blipFill>
        <p:spPr>
          <a:xfrm>
            <a:off x="4030602" y="2584382"/>
            <a:ext cx="4859587" cy="30610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(Windows Form) 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667854C-2BCA-23A4-106D-54F6F23E98FA}"/>
              </a:ext>
            </a:extLst>
          </p:cNvPr>
          <p:cNvPicPr>
            <a:picLocks noChangeAspect="1"/>
          </p:cNvPicPr>
          <p:nvPr/>
        </p:nvPicPr>
        <p:blipFill>
          <a:blip r:embed="rId3"/>
          <a:stretch>
            <a:fillRect/>
          </a:stretch>
        </p:blipFill>
        <p:spPr>
          <a:xfrm>
            <a:off x="3633823" y="2236304"/>
            <a:ext cx="5122550" cy="3043227"/>
          </a:xfrm>
          <a:prstGeom prst="rect">
            <a:avLst/>
          </a:prstGeom>
        </p:spPr>
      </p:pic>
    </p:spTree>
    <p:extLst>
      <p:ext uri="{BB962C8B-B14F-4D97-AF65-F5344CB8AC3E}">
        <p14:creationId xmlns:p14="http://schemas.microsoft.com/office/powerpoint/2010/main" val="166416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0" name="Imagen 9">
            <a:extLst>
              <a:ext uri="{FF2B5EF4-FFF2-40B4-BE49-F238E27FC236}">
                <a16:creationId xmlns:a16="http://schemas.microsoft.com/office/drawing/2014/main" id="{08A14BF4-F875-420D-9C69-85F16EC346D9}"/>
              </a:ext>
            </a:extLst>
          </p:cNvPr>
          <p:cNvPicPr/>
          <p:nvPr/>
        </p:nvPicPr>
        <p:blipFill>
          <a:blip r:embed="rId3"/>
          <a:stretch>
            <a:fillRect/>
          </a:stretch>
        </p:blipFill>
        <p:spPr>
          <a:xfrm>
            <a:off x="3149649" y="2218412"/>
            <a:ext cx="3156325" cy="1678756"/>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9E02E913-8741-4690-BEE2-367EA4FD8362}"/>
              </a:ext>
            </a:extLst>
          </p:cNvPr>
          <p:cNvPicPr/>
          <p:nvPr/>
        </p:nvPicPr>
        <p:blipFill rotWithShape="1">
          <a:blip r:embed="rId4"/>
          <a:srcRect b="7514"/>
          <a:stretch/>
        </p:blipFill>
        <p:spPr bwMode="auto">
          <a:xfrm>
            <a:off x="3088180" y="4216680"/>
            <a:ext cx="3271979" cy="194782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a:extLst>
            <a:ext uri="{53640926-AAD7-44D8-BBD7-CCE9431645EC}">
              <a14:shadowObscured xmlns:a14="http://schemas.microsoft.com/office/drawing/2010/main"/>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30C689D-356E-0492-265D-7A95BE6D9ED6}"/>
              </a:ext>
            </a:extLst>
          </p:cNvPr>
          <p:cNvPicPr>
            <a:picLocks noChangeAspect="1"/>
          </p:cNvPicPr>
          <p:nvPr/>
        </p:nvPicPr>
        <p:blipFill>
          <a:blip r:embed="rId3"/>
          <a:stretch>
            <a:fillRect/>
          </a:stretch>
        </p:blipFill>
        <p:spPr>
          <a:xfrm>
            <a:off x="1960578" y="2094899"/>
            <a:ext cx="5543466" cy="39837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Imagen 3">
            <a:extLst>
              <a:ext uri="{FF2B5EF4-FFF2-40B4-BE49-F238E27FC236}">
                <a16:creationId xmlns:a16="http://schemas.microsoft.com/office/drawing/2014/main" id="{38E7E138-81D4-04AA-031E-9CFB410FECD6}"/>
              </a:ext>
            </a:extLst>
          </p:cNvPr>
          <p:cNvPicPr>
            <a:picLocks noChangeAspect="1"/>
          </p:cNvPicPr>
          <p:nvPr/>
        </p:nvPicPr>
        <p:blipFill>
          <a:blip r:embed="rId3"/>
          <a:stretch>
            <a:fillRect/>
          </a:stretch>
        </p:blipFill>
        <p:spPr>
          <a:xfrm>
            <a:off x="3000000" y="2514064"/>
            <a:ext cx="3343742" cy="40867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3" name="Imagen 2">
            <a:extLst>
              <a:ext uri="{FF2B5EF4-FFF2-40B4-BE49-F238E27FC236}">
                <a16:creationId xmlns:a16="http://schemas.microsoft.com/office/drawing/2014/main" id="{3FE5B071-7888-3892-457E-EB6963F41D32}"/>
              </a:ext>
            </a:extLst>
          </p:cNvPr>
          <p:cNvPicPr>
            <a:picLocks noChangeAspect="1"/>
          </p:cNvPicPr>
          <p:nvPr/>
        </p:nvPicPr>
        <p:blipFill>
          <a:blip r:embed="rId3"/>
          <a:stretch>
            <a:fillRect/>
          </a:stretch>
        </p:blipFill>
        <p:spPr>
          <a:xfrm>
            <a:off x="392325" y="1530626"/>
            <a:ext cx="4702124" cy="2961861"/>
          </a:xfrm>
          <a:prstGeom prst="rect">
            <a:avLst/>
          </a:prstGeom>
        </p:spPr>
      </p:pic>
      <p:pic>
        <p:nvPicPr>
          <p:cNvPr id="6" name="Imagen 5">
            <a:extLst>
              <a:ext uri="{FF2B5EF4-FFF2-40B4-BE49-F238E27FC236}">
                <a16:creationId xmlns:a16="http://schemas.microsoft.com/office/drawing/2014/main" id="{DCC5F5B4-A8D4-825A-F9F7-788DF3D1C9BE}"/>
              </a:ext>
            </a:extLst>
          </p:cNvPr>
          <p:cNvPicPr>
            <a:picLocks noChangeAspect="1"/>
          </p:cNvPicPr>
          <p:nvPr/>
        </p:nvPicPr>
        <p:blipFill>
          <a:blip r:embed="rId4"/>
          <a:stretch>
            <a:fillRect/>
          </a:stretch>
        </p:blipFill>
        <p:spPr>
          <a:xfrm>
            <a:off x="4071758" y="3899661"/>
            <a:ext cx="4784826" cy="2842591"/>
          </a:xfrm>
          <a:prstGeom prst="rect">
            <a:avLst/>
          </a:prstGeom>
        </p:spPr>
      </p:pic>
    </p:spTree>
    <p:extLst>
      <p:ext uri="{BB962C8B-B14F-4D97-AF65-F5344CB8AC3E}">
        <p14:creationId xmlns:p14="http://schemas.microsoft.com/office/powerpoint/2010/main" val="1823293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3	</a:t>
            </a:r>
            <a:r>
              <a:rPr lang="es-ES" sz="1100" dirty="0">
                <a:solidFill>
                  <a:srgbClr val="FFFF00"/>
                </a:solidFill>
                <a:latin typeface="Gill Sans"/>
                <a:ea typeface="Gill Sans"/>
                <a:cs typeface="Gill Sans"/>
                <a:sym typeface="Gill Sans"/>
              </a:rPr>
              <a:t>EJECUCIÓN</a:t>
            </a:r>
            <a:endParaRPr sz="1100" b="0" i="0" u="none" strike="noStrike" cap="none" dirty="0">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5	RECOMENDACIONES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6	BIBLIOGRAFÍA</a:t>
            </a:r>
            <a:endParaRPr sz="1100" b="0" i="0" u="none" strike="noStrike" cap="none" dirty="0">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dirty="0">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n 2">
            <a:extLst>
              <a:ext uri="{FF2B5EF4-FFF2-40B4-BE49-F238E27FC236}">
                <a16:creationId xmlns:a16="http://schemas.microsoft.com/office/drawing/2014/main" id="{2F7542BD-5DE0-627D-39B2-C82C33FE5622}"/>
              </a:ext>
            </a:extLst>
          </p:cNvPr>
          <p:cNvPicPr>
            <a:picLocks noChangeAspect="1"/>
          </p:cNvPicPr>
          <p:nvPr/>
        </p:nvPicPr>
        <p:blipFill>
          <a:blip r:embed="rId3"/>
          <a:stretch>
            <a:fillRect/>
          </a:stretch>
        </p:blipFill>
        <p:spPr>
          <a:xfrm>
            <a:off x="1909141" y="1887412"/>
            <a:ext cx="2174148" cy="4831440"/>
          </a:xfrm>
          <a:prstGeom prst="rect">
            <a:avLst/>
          </a:prstGeom>
        </p:spPr>
      </p:pic>
      <p:pic>
        <p:nvPicPr>
          <p:cNvPr id="6" name="Imagen 5">
            <a:extLst>
              <a:ext uri="{FF2B5EF4-FFF2-40B4-BE49-F238E27FC236}">
                <a16:creationId xmlns:a16="http://schemas.microsoft.com/office/drawing/2014/main" id="{1324CC2A-38F5-A77A-CBBA-CF02338D7F02}"/>
              </a:ext>
            </a:extLst>
          </p:cNvPr>
          <p:cNvPicPr>
            <a:picLocks noChangeAspect="1"/>
          </p:cNvPicPr>
          <p:nvPr/>
        </p:nvPicPr>
        <p:blipFill>
          <a:blip r:embed="rId4"/>
          <a:stretch>
            <a:fillRect/>
          </a:stretch>
        </p:blipFill>
        <p:spPr>
          <a:xfrm>
            <a:off x="4552950" y="2026558"/>
            <a:ext cx="2174148" cy="48314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desarrollar un servicio web RESTful sin base de datos con ASP.NET Web API 2 sobre IIS Express y consumirlo desde clientes de consola, escritorio y móvil.</a:t>
            </a:r>
          </a:p>
          <a:p>
            <a:pPr indent="-325869">
              <a:lnSpc>
                <a:spcPct val="110000"/>
              </a:lnSpc>
              <a:spcBef>
                <a:spcPts val="960"/>
              </a:spcBef>
              <a:buClr>
                <a:schemeClr val="dk1"/>
              </a:buClr>
              <a:buSzPct val="91999"/>
            </a:pPr>
            <a:r>
              <a:rPr lang="es-EC" altLang="es-EC" dirty="0"/>
              <a:t>La arquitectura por capas y el contrato OpenAPI facilitan el consumo; el acceso se controla con las credenciales MONSTER / MONSTER69.</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Troelsen, A., &amp; Japikse, P. (2022). Pro C# 10 with .NET 6. Apress.</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Maxim, B. R. (2019). Software Engineering: A Practitioner's Approach (9th ed.). McGraw-Hill Education.</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Microsoft. (2024). Documentación de .NET. https://learn.microsoft.com/dotnet</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3509</Words>
  <Application>Microsoft Office PowerPoint</Application>
  <PresentationFormat>Panorámica</PresentationFormat>
  <Paragraphs>749</Paragraphs>
  <Slides>20</Slides>
  <Notes>20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Calibri</vt:lpstr>
      <vt:lpstr>Gill Sans</vt:lpstr>
      <vt:lpstr>Noto Sans Symbols</vt:lpstr>
      <vt:lpstr>Arial</vt:lpstr>
      <vt:lpstr>Times New Roman</vt:lpstr>
      <vt:lpstr>Symbol</vt:lpstr>
      <vt:lpstr>Dividendo</vt:lpstr>
      <vt:lpstr>CONVERSIÓN DE UNIDADES SOAP EN JAVA SIN BASE DE DATOS  </vt:lpstr>
      <vt:lpstr>1 OBJETIVO</vt:lpstr>
      <vt:lpstr>1 OBJETIVOS ESPECIFICOS</vt:lpstr>
      <vt:lpstr>2 DESARROLLO</vt:lpstr>
      <vt:lpstr>2.1.1. CREACIÓN DEL PROYECTO SERVIDOR </vt:lpstr>
      <vt:lpstr>Presentación de PowerPoint</vt:lpstr>
      <vt:lpstr>Presentación de PowerPoint</vt:lpstr>
      <vt:lpstr>2.2 CREACIÓN DEL PROYECTO ESCRITORIO CLIENTE</vt:lpstr>
      <vt:lpstr>Presentación de PowerPoint</vt:lpstr>
      <vt:lpstr>Presentación de PowerPoint</vt:lpstr>
      <vt:lpstr>Presentación de PowerPoint</vt:lpstr>
      <vt:lpstr> 2.3 CREACIÓN DEL CLIENTE EN APLICACIÓN  DE CONSOLA  </vt:lpstr>
      <vt:lpstr> 2.3 CREACIÓN DEL CLIENTE EN APLICACIÓN MÓVIL  </vt:lpstr>
      <vt:lpstr> 2.4. CREACIÓN DEL CLIENTE EN APLICACIÓN DE WEB </vt:lpstr>
      <vt:lpstr> 3 EJECUCIÓN  </vt:lpstr>
      <vt:lpstr>Ejecución del cliente escritorio: </vt:lpstr>
      <vt:lpstr>Ejecución del cliente web: </vt:lpstr>
      <vt:lpstr>Presentación de PowerPoint</vt:lpstr>
      <vt:lpstr>4 CONCLUSIONES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ARIEL XD</cp:lastModifiedBy>
  <cp:revision>8</cp:revision>
  <dcterms:created xsi:type="dcterms:W3CDTF">2020-07-10T23:33:49Z</dcterms:created>
  <dcterms:modified xsi:type="dcterms:W3CDTF">2026-05-13T01:27:01Z</dcterms:modified>
</cp:coreProperties>
</file>